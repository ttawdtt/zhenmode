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谱方法海洋模型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FD0"/>
                </a:solidFill>
                <a:latin typeface="Microsoft YaHei"/>
              </a:defRPr>
            </a:pPr>
            <a:r>
              <a:t>Spectral-Method Ocean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静力原始方程  |  JAX JIT 加速  |  伪谱方法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2026-08-21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F3A"/>
                </a:solidFill>
                <a:latin typeface="Microsoft YaHei"/>
              </a:defRPr>
            </a:pPr>
            <a:r>
              <a:t>模型做什么？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从零构建的三维海洋数值模型，求解静力原始方程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控制方程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23A5E"/>
                </a:solidFill>
                <a:latin typeface="Consolas"/>
              </a:defRPr>
            </a:pPr>
            <a:r>
              <a:t>∂u/∂t + u∂u/∂x + v∂u/∂y = fv - (1/ρ₀)∂p/∂x + ν∇²u + F_wind</a:t>
            </a:r>
          </a:p>
          <a:p>
            <a:pPr>
              <a:spcAft>
                <a:spcPts val="800"/>
              </a:spcAft>
              <a:defRPr sz="1200">
                <a:solidFill>
                  <a:srgbClr val="123A5E"/>
                </a:solidFill>
                <a:latin typeface="Consolas"/>
              </a:defRPr>
            </a:pPr>
            <a:r>
              <a:t>∂v/∂t + u∂v/∂x + v∂v/∂y = -fu - (1/ρ₀)∂p/∂y + ν∇²v</a:t>
            </a:r>
          </a:p>
          <a:p>
            <a:pPr>
              <a:spcAft>
                <a:spcPts val="800"/>
              </a:spcAft>
              <a:defRPr sz="1200">
                <a:solidFill>
                  <a:srgbClr val="123A5E"/>
                </a:solidFill>
                <a:latin typeface="Consolas"/>
              </a:defRPr>
            </a:pPr>
            <a:r>
              <a:t>∂p/∂z = -ρg                          (静力平衡)</a:t>
            </a:r>
          </a:p>
          <a:p>
            <a:pPr>
              <a:spcAft>
                <a:spcPts val="800"/>
              </a:spcAft>
              <a:defRPr sz="1200">
                <a:solidFill>
                  <a:srgbClr val="123A5E"/>
                </a:solidFill>
                <a:latin typeface="Consolas"/>
              </a:defRPr>
            </a:pPr>
            <a:r>
              <a:t>∂T/∂t + u∇T = κ∇²T + Q_heat</a:t>
            </a:r>
          </a:p>
          <a:p>
            <a:pPr>
              <a:spcAft>
                <a:spcPts val="800"/>
              </a:spcAft>
              <a:defRPr sz="1200">
                <a:solidFill>
                  <a:srgbClr val="123A5E"/>
                </a:solidFill>
                <a:latin typeface="Consolas"/>
              </a:defRPr>
            </a:pPr>
            <a:r>
              <a:t>∂η/∂t + ∇·(H·u_bt) = 0          (连续性/自由表面)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关键参数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方程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静力原始方程 (HPE)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水平离散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514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伪谱方法 (FFT)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垂直离散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260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有限差分 (z 坐标)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时间推进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337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IMEX Strang 分裂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网格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49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128×128×14 (0.1°, ~9km)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60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计算后端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160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JAX JIT (CPU)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加速比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12.4x vs numpy/scipy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834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8347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max diff 2.8e-13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3A5E"/>
                </a:solidFill>
                <a:latin typeface="Microsoft YaHei"/>
              </a:defRPr>
            </a:pPr>
            <a:r>
              <a:t>为什么用谱方法？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物理空间求导 = 看邻居 (有限差分 stencil, 缓存不友好)</a:t>
            </a:r>
            <a:br/>
            <a:r>
              <a:t>傅里叶空间求导 = 每个频率乘一个常数 ik (完全独立, 无邻居依赖)</a:t>
            </a:r>
            <a:br/>
            <a:r>
              <a:t>结果：求导变成对角矩阵乘法，精度达谱收敛 (指数收敛)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F3A"/>
                </a:solidFill>
                <a:latin typeface="Microsoft YaHei"/>
              </a:defRPr>
            </a:pPr>
            <a:r>
              <a:t>项目结构与代码规模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468880" cy="100584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D0"/>
                </a:solidFill>
                <a:latin typeface="Microsoft YaHei"/>
              </a:defRPr>
            </a:pPr>
            <a:r>
              <a:t>~3,300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行核心代码 (src/)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188720"/>
            <a:ext cx="2468880" cy="100584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D0"/>
                </a:solidFill>
                <a:latin typeface="Microsoft YaHei"/>
              </a:defRPr>
            </a:pPr>
            <a:r>
              <a:t>~1,500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行测试代码 (tests/)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2468880" cy="100584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D0"/>
                </a:solidFill>
                <a:latin typeface="Microsoft YaHei"/>
              </a:defRPr>
            </a:pPr>
            <a:r>
              <a:t>~750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行脚本 (scripts/)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188720"/>
            <a:ext cx="2468880" cy="100584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FD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次提交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核心模块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3A5E"/>
                </a:solidFill>
                <a:latin typeface="Consolas"/>
              </a:defRPr>
            </a:pPr>
            <a:r>
              <a:t>jax_solver.py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776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0175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JAX JIT 求解器 (主力)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832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3A5E"/>
                </a:solidFill>
                <a:latin typeface="Consolas"/>
              </a:defRPr>
            </a:pPr>
            <a:r>
              <a:t>spectral_ops.py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8327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526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38327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FFT 算子 (导数/散度/拉普拉斯/泊松)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3A5E"/>
                </a:solidFill>
                <a:latin typeface="Consolas"/>
              </a:defRPr>
            </a:pPr>
            <a:r>
              <a:t>integrator.py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7490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293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4903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numpy IMEX Strang 分裂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3A5E"/>
                </a:solidFill>
                <a:latin typeface="Consolas"/>
              </a:defRPr>
            </a:pPr>
            <a:r>
              <a:t>grid.py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218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114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网格 + ETOPO 地形读取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3A5E"/>
                </a:solidFill>
                <a:latin typeface="Consolas"/>
              </a:defRPr>
            </a:pPr>
            <a:r>
              <a:t>eos.py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480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204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480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线性 + UNESCO 状态方程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3A5E"/>
                </a:solidFill>
                <a:latin typeface="Consolas"/>
              </a:defRPr>
            </a:pPr>
            <a:r>
              <a:t>forcing.py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846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846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风应力 + 热通量场生成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3A5E"/>
                </a:solidFill>
                <a:latin typeface="Consolas"/>
              </a:defRPr>
            </a:pPr>
            <a:r>
              <a:t>momentum.py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212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动量方程右端项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23A5E"/>
                </a:solidFill>
                <a:latin typeface="Consolas"/>
              </a:defRPr>
            </a:pPr>
            <a:r>
              <a:t>config.py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577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5778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GridConfig + PhysicsConfig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验证体系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• test_wave_speed.py — 波速 c=√(gH) 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3383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• test_forcing.py — Ekman 输运 + Sverdrup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• compare_jax_numpy.py — JAX vs numpy 一致性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• verify_stability.py — 稳定性测试 (3 cases)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• 4 个 pytest 模块 (~1487 行)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F3A"/>
                </a:solidFill>
                <a:latin typeface="Microsoft YaHei"/>
              </a:defRPr>
            </a:pPr>
            <a:r>
              <a:t>开发历程：6 次提交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114800"/>
            <a:ext cx="10698480" cy="36576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25880" y="3995928"/>
            <a:ext cx="274320" cy="2743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4023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737360" cy="2560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737360" cy="2926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初始提交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9dd0a66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谱方法求解器 + ETOPO 地形 + CDO 重映射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Microsoft YaHei"/>
              </a:defRPr>
            </a:pPr>
            <a:r>
              <a:t>+3,796 lines</a:t>
            </a:r>
          </a:p>
        </p:txBody>
      </p:sp>
      <p:sp>
        <p:nvSpPr>
          <p:cNvPr id="12" name="Oval 11"/>
          <p:cNvSpPr/>
          <p:nvPr/>
        </p:nvSpPr>
        <p:spPr>
          <a:xfrm>
            <a:off x="3154680" y="3995928"/>
            <a:ext cx="274320" cy="274320"/>
          </a:xfrm>
          <a:prstGeom prst="ellipse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4023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572000"/>
            <a:ext cx="1737360" cy="20116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320" y="4572000"/>
            <a:ext cx="1737360" cy="292608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4590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向量化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95604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b74d394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2120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向量化循环 + 多线程 scipy.fft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6172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23A5E"/>
                </a:solidFill>
                <a:latin typeface="Microsoft YaHei"/>
              </a:defRPr>
            </a:pPr>
            <a:r>
              <a:t>+132 lines</a:t>
            </a:r>
          </a:p>
        </p:txBody>
      </p:sp>
      <p:sp>
        <p:nvSpPr>
          <p:cNvPr id="20" name="Oval 19"/>
          <p:cNvSpPr/>
          <p:nvPr/>
        </p:nvSpPr>
        <p:spPr>
          <a:xfrm>
            <a:off x="4983480" y="3995928"/>
            <a:ext cx="274320" cy="274320"/>
          </a:xfrm>
          <a:prstGeom prst="ellipse">
            <a:avLst/>
          </a:prstGeom>
          <a:solidFill>
            <a:srgbClr val="00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4023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188720"/>
            <a:ext cx="1737360" cy="2560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1188720"/>
            <a:ext cx="1737360" cy="292608"/>
          </a:xfrm>
          <a:prstGeom prst="roundRect">
            <a:avLst/>
          </a:prstGeom>
          <a:solidFill>
            <a:srgbClr val="00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JAX 加速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15727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c9984ad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18288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JAX JIT 求解器, 12.4x speedup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D0"/>
                </a:solidFill>
                <a:latin typeface="Microsoft YaHei"/>
              </a:defRPr>
            </a:pPr>
            <a:r>
              <a:t>+618 lines</a:t>
            </a:r>
          </a:p>
        </p:txBody>
      </p:sp>
      <p:sp>
        <p:nvSpPr>
          <p:cNvPr id="28" name="Oval 27"/>
          <p:cNvSpPr/>
          <p:nvPr/>
        </p:nvSpPr>
        <p:spPr>
          <a:xfrm>
            <a:off x="6812280" y="3995928"/>
            <a:ext cx="274320" cy="274320"/>
          </a:xfrm>
          <a:prstGeom prst="ellipse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023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572000"/>
            <a:ext cx="1737360" cy="20116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4572000"/>
            <a:ext cx="1737360" cy="292608"/>
          </a:xfrm>
          <a:prstGeom prst="roundRect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590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自由表面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95604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effe5ce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120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H_sw=sum(dz), 精确浅水步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6172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5A8C"/>
                </a:solidFill>
                <a:latin typeface="Microsoft YaHei"/>
              </a:defRPr>
            </a:pPr>
            <a:r>
              <a:t>+400 lines</a:t>
            </a:r>
          </a:p>
        </p:txBody>
      </p:sp>
      <p:sp>
        <p:nvSpPr>
          <p:cNvPr id="36" name="Oval 35"/>
          <p:cNvSpPr/>
          <p:nvPr/>
        </p:nvSpPr>
        <p:spPr>
          <a:xfrm>
            <a:off x="8641080" y="399592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4023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1188720"/>
            <a:ext cx="1737360" cy="2560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46720" y="1188720"/>
            <a:ext cx="17373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物理参数化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15727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855d98c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18288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UNESCO EOS, Smagorinsky, 2D 强迫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2788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+745 lines</a:t>
            </a:r>
          </a:p>
        </p:txBody>
      </p:sp>
      <p:sp>
        <p:nvSpPr>
          <p:cNvPr id="44" name="Oval 43"/>
          <p:cNvSpPr/>
          <p:nvPr/>
        </p:nvSpPr>
        <p:spPr>
          <a:xfrm>
            <a:off x="10469880" y="399592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69880" y="4023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4572000"/>
            <a:ext cx="1737360" cy="20116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875520" y="4572000"/>
            <a:ext cx="1737360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0" y="45902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稳定性修复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495604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bf0134d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52120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半隐式 PGF + 正压风移入线性步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6172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Microsoft YaHei"/>
              </a:defRPr>
            </a:pPr>
            <a:r>
              <a:t>+739 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F3A"/>
                </a:solidFill>
                <a:latin typeface="Microsoft YaHei"/>
              </a:defRPr>
            </a:pPr>
            <a:r>
              <a:t>数值方法架构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IMEX Strang 分裂: L(dt/2) → N(dt) → L(dt/2)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164592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线性半步 L(dt/2)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• 水平扩散 (谱衰减, 精确)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• f-平面科氏力 (精确旋转)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• 自由表面 (精确浅水解)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219456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3200400" cy="1645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非线性全步 N(dt)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• 平流 (通量形式, dealias)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5915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• 斜压压力梯度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151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• 垂直扩散 (有限差分)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7121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• 风应力 + 热通量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272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• 底摩擦 + Smagorinsky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3840" y="2194560"/>
            <a:ext cx="457200" cy="45720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645920"/>
            <a:ext cx="3200400" cy="164592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线性半步 L(dt/2)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• 水平扩散 (谱衰减, 精确)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• f-平面科氏力 (精确旋转)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• 自由表面 (精确浅水解)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谱方法求导流程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1554480" cy="9144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51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物理空间 u</a:t>
            </a:r>
            <a:br/>
            <a:r>
              <a:t>(N 个点)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331720" y="4389120"/>
            <a:ext cx="2286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4114800"/>
            <a:ext cx="1554480" cy="91440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4251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FFT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60520" y="4389120"/>
            <a:ext cx="2286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4114800"/>
            <a:ext cx="1554480" cy="914400"/>
          </a:xfrm>
          <a:prstGeom prst="roundRect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251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傅里叶空间 û</a:t>
            </a:r>
            <a:br/>
            <a:r>
              <a:t>(N 个频率)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89320" y="4389120"/>
            <a:ext cx="2286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4114800"/>
            <a:ext cx="155448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251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× ik</a:t>
            </a:r>
            <a:br/>
            <a:r>
              <a:t>(逐元素乘法)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818120" y="4389120"/>
            <a:ext cx="2286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46720" y="4114800"/>
            <a:ext cx="1554480" cy="91440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251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IFFT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646920" y="4389120"/>
            <a:ext cx="22860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75520" y="4114800"/>
            <a:ext cx="1554480" cy="9144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4251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物理空间 ∂u/∂x</a:t>
            </a:r>
            <a:br/>
            <a:r>
              <a:t>(N 个点)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核心优势：傅里叶空间中求导 = 对角矩阵乘法 (每个频率独立), 无邻居耦合</a:t>
            </a:r>
            <a:br/>
            <a:r>
              <a:t>精度：谱收敛 (指数收敛), 远超有限差分的 O(Δx²)</a:t>
            </a:r>
            <a:br/>
            <a:r>
              <a:t>速度：FFT 是 O(N log N), 且各频率完全并行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物理过程 I：自由表面 + UNESCO 状态方程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212080" cy="2560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347472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自由表面 (Commit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9344"/>
            <a:ext cx="493776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原来：刚盖近似 (η≡0), 海面是铁板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无表面重力波, 无风暴潮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无罗斯贝波, 无法与卫星高度计同化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现在：η 随时间演化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谱空间精确求解浅水方程 (矩阵指数)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连续性: ∂η/∂t = -H·∇·u_bt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动量: ∂u_bt/∂t = -g·∇η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验证: 波速误差 4.91%, 质量守恒 7e-15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12080" cy="2560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347472"/>
          </a:xfrm>
          <a:prstGeom prst="roundRect">
            <a:avLst/>
          </a:prstGeom>
          <a:solidFill>
            <a:srgbClr val="1E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UNESCO 非线性状态方程 (Commit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09344"/>
            <a:ext cx="493776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原来：线性 ρ = ρ₀(1-αΔT+βΔS)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跨 13° 纬度误差 5-15%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无法模拟 cabbeling (密度对流)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现在：UNESCO 1980 完整多项式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ρ = ρ_smow(T) + B(T)·S + C(T)·S^1.5 + D·S²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温度对密度的影响随 T 本身变化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冷水对温度更敏感 (非线性响应)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切换: eos_type='unesco'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560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34747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H_sw = sum(dz) 深度修复 (Commit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52544"/>
            <a:ext cx="493776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Bug: 浅水频率用 H_mean=5724m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但 z 网格只覆盖 sum(dz)=4000m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20% 波速误差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修复: H_sw = sum(dz) 作为有效深度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dz_norm 归一化 (sum=1)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正压速度 = 真深度平均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提取-演化-投影 往返一致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560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正压风移入线性步 (Commit 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352544"/>
            <a:ext cx="493776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问题: Strang 分裂把风 (显式) 和自由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表面 (线性) 分开 → 共振, η 爆炸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21 步内 η: 0 → 2.2×10⁴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修复: 正压风 F=τ/(ρ₀H_sw) 加入线性步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求解强迫浅水方程精确解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显式步只保留斜压风分量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→ 无条件稳定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物理过程 II：次网格闭合 + 2D 强迫 + 底摩擦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347472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Smagorinsky</a:t>
            </a:r>
            <a:br/>
            <a:r>
              <a:t>次网格闭合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9344"/>
            <a:ext cx="310896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原来：常数黏性 ν_h=100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→ 平静区耗散过多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→ 强流区耗散不够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→ 谱方法 Gibbs 振荡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现在：ν_smg = (Cs·Δx)²·|D|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|D| = 变形率 = √((∂u/∂x-∂v/∂y)²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       + (∂u/∂y+∂v/∂x)²)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• 强流处黏性自动增大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• 弱流处黏性自动减小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• 模拟亚网格涡旋耗散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• 自适应抑制 Gibbs 振荡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默认 Cs=0 (关闭)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38328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38328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二维空间</a:t>
            </a:r>
            <a:br/>
            <a:r>
              <a:t>强迫场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609344"/>
            <a:ext cx="310896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原来：全局标量, 无空间结构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→ 无风应力旋度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→ 不产生副热带回旋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现在：2D (nx, ny) 场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风应力 (Stommel 回旋):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τx(y) = -τ₀·cos(πy/Ly)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南: 东风 (贸易风)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北: 西风 (西风带)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中: 零应力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热通量 (经向梯度):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Q(y) = -Q₀·(2y'-1)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南: 加热  北: 冷却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意义：驱动真实大尺度环流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188720"/>
            <a:ext cx="3383280" cy="50292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1188720"/>
            <a:ext cx="3383280" cy="34747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二次底摩擦</a:t>
            </a:r>
            <a:br/>
            <a:r>
              <a:t>(Quadratic Drag)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609344"/>
            <a:ext cx="310896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原来：线性 -r·u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→ 高流速下阻尼不足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→ 低估潮流耗散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现在：τ = -Cd·|U|·u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|U| = √(u²+v²)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Cd = 0.0025 (标准值)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效果：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• 高流速时阻尼 ~u² (更强)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• 正确的潮流能量耗散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• 更真实的底层边界层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• 对数边界层结构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切换: bottom_friction=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       'quadratic'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F3A"/>
                </a:solidFill>
                <a:latin typeface="Microsoft YaHei"/>
              </a:defRPr>
            </a:pPr>
            <a:r>
              <a:t>稳定性问题：诊断与修复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7315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YaHei"/>
              </a:defRPr>
            </a:pPr>
            <a:r>
              <a:t>问题：dt=300s 时数值发散 (NaN), 无论有无强迫 — 不是 CFL 问题 (内部波 CFL ~0.003)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诊断过程：逐项隔离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关闭斜压 PGF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5"/>
                </a:solidFill>
                <a:latin typeface="Microsoft YaHei"/>
              </a:defRPr>
            </a:pPr>
            <a:r>
              <a:t>→ 稳定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关闭 tracer 平流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5"/>
                </a:solidFill>
                <a:latin typeface="Microsoft YaHei"/>
              </a:defRPr>
            </a:pPr>
            <a:r>
              <a:t>→ 稳定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两者同时开启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832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→ 复现发散 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0972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根因：Forward Euler 对斜压 PGF–tracer 耦合的本质不稳定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u → 平流 T → T 异常 → 密度异常 → 斜压 PGF → 加速 u → ...</a:t>
            </a:r>
            <a:br/>
            <a:r>
              <a:t>Forward Euler 对振荡系统 |λ| &gt; 1 (任何 dt &gt; 0), 不是 CFL 违反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3A5E"/>
                </a:solidFill>
                <a:latin typeface="Microsoft YaHei"/>
              </a:defRPr>
            </a:pPr>
            <a:r>
              <a:t>修复尝试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5212080" cy="82296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3A5E"/>
                </a:solidFill>
                <a:latin typeface="Microsoft YaHei"/>
              </a:defRPr>
            </a:pPr>
            <a:r>
              <a:t>✓ 正压风移入线性步 (成功)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80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风+自由表面精确耦合, 消除 Strang 分裂共振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760720"/>
            <a:ext cx="5212080" cy="8229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806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✗ 半隐式斜压 PGF (失败)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080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tracer-first: PGF 用新 T/S, 但平流仍显式 → 3/3 测试 NaN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F3A"/>
                </a:solidFill>
                <a:latin typeface="Microsoft YaHei"/>
              </a:defRPr>
            </a:pPr>
            <a:r>
              <a:t>下一步：彻底修复方向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半隐式修复失败的原因：PGF 对 T 半隐式了, 但 tracer 平流对 u 仍是显式的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572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方案 A：垂直模态分解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377440"/>
            <a:ext cx="1920240" cy="2743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3957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高复杂度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将斜压 PGF 移入线性步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按垂直正规模在谱空间精确求解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优点: 最严谨, 无条件稳定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缺点: 需推导垂直模态,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     代码重构量大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方案 B：RK2 预测-校正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377440"/>
            <a:ext cx="19202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3957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中等复杂度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346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预测步: u*, T* = Euler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校正步: 用平均值更新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优点: 2阶精度, 稳定域大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缺点: 每步计算量 ×2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383280" cy="457200"/>
          </a:xfrm>
          <a:prstGeom prst="roundRect">
            <a:avLst/>
          </a:prstGeom>
          <a:solidFill>
            <a:srgbClr val="00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87451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方案 C：Crank-Nicolson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377440"/>
            <a:ext cx="1920240" cy="274320"/>
          </a:xfrm>
          <a:prstGeom prst="roundRect">
            <a:avLst/>
          </a:prstGeom>
          <a:solidFill>
            <a:srgbClr val="00B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23957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低复杂度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8346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PGF = 0.5×(PGF_old + PGF_new)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需预测 T* 来算 PGF_new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优点: 实现简单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缺点: 需要预测步,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       稳定性待验证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164592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FD0"/>
                </a:solidFill>
                <a:latin typeface="Microsoft YaHei"/>
              </a:defRPr>
            </a:pPr>
            <a:r>
              <a:t>从零构建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6 次提交, ~5900 行代码</a:t>
            </a:r>
            <a:br/>
            <a:r>
              <a:t>从方程到可运行模型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164592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FD0"/>
                </a:solidFill>
                <a:latin typeface="Microsoft YaHei"/>
              </a:defRPr>
            </a:pPr>
            <a:r>
              <a:t>谱方法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FFT 求导, 指数收敛</a:t>
            </a:r>
            <a:br/>
            <a:r>
              <a:t>比有限差更精确更高效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468880" cy="164592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FD0"/>
                </a:solidFill>
                <a:latin typeface="Microsoft YaHei"/>
              </a:defRPr>
            </a:pPr>
            <a:r>
              <a:t>JAX 加速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12.4x vs numpy/scipy</a:t>
            </a:r>
            <a:br/>
            <a:r>
              <a:t>精度差 2.8e-13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468880" cy="164592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FD0"/>
                </a:solidFill>
                <a:latin typeface="Microsoft YaHei"/>
              </a:defRPr>
            </a:pPr>
            <a:r>
              <a:t>物理完整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920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自由表面 + UNESCO EOS</a:t>
            </a:r>
            <a:br/>
            <a:r>
              <a:t>2D 强迫 + Smagorinsky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10698480" cy="137160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D0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✓ 正压风修复成功 (移入线性步, 精确强迫浅水解)</a:t>
            </a:r>
            <a:br/>
            <a:r>
              <a:t>✗ 斜压 PGF 修复失败 (半隐式不足, 平流仍显式 → 3/3 测试 NaN)</a:t>
            </a:r>
            <a:br/>
            <a:r>
              <a:t>→ 下一步: 垂直模态分解 / RK2 / Crank-Nicolson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D0"/>
                </a:solidFill>
                <a:latin typeface="Microsoft YaHei"/>
              </a:defRPr>
            </a:pPr>
            <a:r>
              <a:t>核心洞察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Forward Euler 对振荡耦合系统是本质不稳定的 (|λ|&gt;1, 任何 dt)</a:t>
            </a:r>
            <a:br/>
            <a:r>
              <a:t>彻底解决需要: 将斜压 PGF 移入精确线性步, 或改用高阶时间格式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